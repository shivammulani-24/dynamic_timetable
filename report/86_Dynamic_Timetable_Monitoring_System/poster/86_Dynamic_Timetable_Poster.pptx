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5124113" cy="21388388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4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AutoShape 1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en-US" sz="4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-11798280" y="-11796840"/>
            <a:ext cx="11796840" cy="12490560"/>
          </a:xfrm>
          <a:prstGeom prst="rect">
            <a:avLst/>
          </a:prstGeom>
          <a:noFill/>
          <a:ln w="0">
            <a:noFill/>
          </a:ln>
        </p:spPr>
        <p:txBody>
          <a:bodyPr lIns="208800" rIns="208800" tIns="104400" bIns="104400" anchor="ctr">
            <a:noAutofit/>
          </a:bodyPr>
          <a:p>
            <a:pPr algn="ctr"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0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83160" cy="411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Img"/>
          </p:nvPr>
        </p:nvSpPr>
        <p:spPr>
          <a:xfrm>
            <a:off x="2216160" y="695160"/>
            <a:ext cx="2425680" cy="3429000"/>
          </a:xfrm>
          <a:prstGeom prst="rect">
            <a:avLst/>
          </a:prstGeom>
          <a:ln w="0">
            <a:noFill/>
          </a:ln>
        </p:spPr>
      </p:sp>
      <p:sp>
        <p:nvSpPr>
          <p:cNvPr id="16" name="Text Box 2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en-US" sz="4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1B7031-5B4C-4A49-A6CC-6730F53DEFEE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57080" y="857160"/>
            <a:ext cx="13606560" cy="3562560"/>
          </a:xfrm>
          <a:prstGeom prst="rect">
            <a:avLst/>
          </a:prstGeom>
          <a:noFill/>
          <a:ln w="0">
            <a:noFill/>
          </a:ln>
        </p:spPr>
        <p:txBody>
          <a:bodyPr lIns="208800" rIns="208800" tIns="104400" bIns="104400" anchor="ctr">
            <a:noAutofit/>
          </a:bodyPr>
          <a:p>
            <a:pPr indent="0" algn="ctr"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0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57080" y="4991040"/>
            <a:ext cx="13606560" cy="14111280"/>
          </a:xfrm>
          <a:prstGeom prst="rect">
            <a:avLst/>
          </a:prstGeom>
          <a:noFill/>
          <a:ln w="0">
            <a:noFill/>
          </a:ln>
        </p:spPr>
        <p:txBody>
          <a:bodyPr lIns="208800" rIns="208800" tIns="104400" bIns="104400" anchor="t">
            <a:normAutofit/>
          </a:bodyPr>
          <a:p>
            <a:pPr marL="343080" indent="-343080">
              <a:spcBef>
                <a:spcPts val="1826"/>
              </a:spcBef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US" sz="73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73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spcBef>
                <a:spcPts val="1826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US" sz="73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73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spcBef>
                <a:spcPts val="1826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US" sz="73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73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spcBef>
                <a:spcPts val="1826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US" sz="73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73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spcBef>
                <a:spcPts val="1826"/>
              </a:spcBef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US" sz="73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73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spcBef>
                <a:spcPts val="1826"/>
              </a:spcBef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US" sz="73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73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spcBef>
                <a:spcPts val="1826"/>
              </a:spcBef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US" sz="73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7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757080" y="19822680"/>
            <a:ext cx="3524400" cy="1135080"/>
          </a:xfrm>
          <a:prstGeom prst="rect">
            <a:avLst/>
          </a:prstGeom>
          <a:noFill/>
          <a:ln w="0">
            <a:noFill/>
          </a:ln>
        </p:spPr>
        <p:txBody>
          <a:bodyPr lIns="208800" rIns="208800" tIns="104400" bIns="104400" anchor="ctr">
            <a:noAutofit/>
          </a:bodyPr>
          <a:p>
            <a:pPr indent="0"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en-US" sz="4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ext Box 4"/>
          <p:cNvSpPr/>
          <p:nvPr/>
        </p:nvSpPr>
        <p:spPr>
          <a:xfrm>
            <a:off x="5167440" y="19823040"/>
            <a:ext cx="4789440" cy="11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en-US" sz="4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2"/>
          </p:nvPr>
        </p:nvSpPr>
        <p:spPr>
          <a:xfrm>
            <a:off x="10839240" y="19822680"/>
            <a:ext cx="3524040" cy="1135080"/>
          </a:xfrm>
          <a:prstGeom prst="rect">
            <a:avLst/>
          </a:prstGeom>
          <a:noFill/>
          <a:ln w="0">
            <a:noFill/>
          </a:ln>
        </p:spPr>
        <p:txBody>
          <a:bodyPr lIns="208800" rIns="208800" tIns="104400" bIns="104400" anchor="ctr">
            <a:noAutofit/>
          </a:bodyPr>
          <a:lstStyle>
            <a:lvl1pPr indent="0"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  <a:defRPr b="0" lang="en-US" sz="41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fld id="{9F79C418-5E8F-4B4A-B871-2D828CDFDB01}" type="slidenum">
              <a:rPr b="0" lang="en-US" sz="41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4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"/>
          <p:cNvSpPr/>
          <p:nvPr/>
        </p:nvSpPr>
        <p:spPr>
          <a:xfrm>
            <a:off x="246240" y="1881360"/>
            <a:ext cx="14630400" cy="228600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 cap="sq" w="25560">
            <a:solidFill>
              <a:srgbClr val="5c477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0520" rIns="110520" tIns="55440" bIns="55440" anchor="ctr">
            <a:noAutofit/>
          </a:bodyPr>
          <a:p>
            <a:pPr algn="ctr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  <a:tab algn="l" pos="11231640"/>
                <a:tab algn="l" pos="11680920"/>
                <a:tab algn="l" pos="12130200"/>
                <a:tab algn="l" pos="12579480"/>
                <a:tab algn="l" pos="13028760"/>
                <a:tab algn="l" pos="13478040"/>
              </a:tabLst>
            </a:pPr>
            <a:r>
              <a:rPr b="1" lang="en-US" sz="3200" spc="-1" strike="noStrike">
                <a:solidFill>
                  <a:srgbClr val="0070c0"/>
                </a:solidFill>
                <a:latin typeface="Bookman Old Style"/>
                <a:ea typeface="Times New Roman"/>
              </a:rPr>
              <a:t>Dynamic Timetable: A Role-Based Timetable Monitoring System with Automated Extraction and Natural-Language Queries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  <a:tab algn="l" pos="11231640"/>
                <a:tab algn="l" pos="11680920"/>
                <a:tab algn="l" pos="12130200"/>
                <a:tab algn="l" pos="12579480"/>
                <a:tab algn="l" pos="13028760"/>
                <a:tab algn="l" pos="13478040"/>
              </a:tabLst>
            </a:pPr>
            <a:r>
              <a:rPr b="1" lang="en-US" sz="2400" spc="-1" strike="noStrike">
                <a:solidFill>
                  <a:srgbClr val="7030a0"/>
                </a:solidFill>
                <a:latin typeface="Bookman Old Style"/>
                <a:ea typeface="Times New Roman"/>
              </a:rPr>
              <a:t>Shivam Mulani, Member 2 Name, Member 3 Name, Member 4 Name, B.Tech.(Comp.)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  <a:tab algn="l" pos="11231640"/>
                <a:tab algn="l" pos="11680920"/>
                <a:tab algn="l" pos="12130200"/>
                <a:tab algn="l" pos="12579480"/>
                <a:tab algn="l" pos="13028760"/>
                <a:tab algn="l" pos="13478040"/>
              </a:tabLst>
            </a:pPr>
            <a:r>
              <a:rPr b="1" lang="en-US" sz="2400" spc="-1" strike="noStrike">
                <a:solidFill>
                  <a:srgbClr val="7030a0"/>
                </a:solidFill>
                <a:latin typeface="Bookman Old Style"/>
                <a:ea typeface="Times New Roman"/>
              </a:rPr>
              <a:t>Project Guide: Prof. Guide Name  |  Group No. 86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AutoShape 2"/>
          <p:cNvSpPr/>
          <p:nvPr/>
        </p:nvSpPr>
        <p:spPr>
          <a:xfrm>
            <a:off x="247680" y="4495680"/>
            <a:ext cx="7086600" cy="3794760"/>
          </a:xfrm>
          <a:prstGeom prst="roundRect">
            <a:avLst>
              <a:gd name="adj" fmla="val 7870"/>
            </a:avLst>
          </a:prstGeom>
          <a:solidFill>
            <a:srgbClr val="fdeada"/>
          </a:solidFill>
          <a:ln cap="sq" w="9360">
            <a:solidFill>
              <a:srgbClr val="7d60a0"/>
            </a:solidFill>
            <a:miter/>
          </a:ln>
          <a:effectLst>
            <a:outerShdw dist="20160" dir="5400000" blurRad="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10520" rIns="110520" tIns="55440" bIns="55440" anchor="t">
            <a:noAutofit/>
          </a:bodyPr>
          <a:p>
            <a:pPr algn="ctr">
              <a:lnSpc>
                <a:spcPct val="150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1" lang="en-US" sz="20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Abstract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College timetables are published as dense multi-page PDFs that everyone reads by hand. We built Dynamic Timetable, a role-based mobile and web system that extracts the official timetable automatically (PDF, scans, Excel, Word), flags uncertain entries, detects clashes and answers plain-English questions through a safe rule-based engine. On the college's real 10-page timetable, 452 of 453 classes were verified automatically, exactly 2 genuine clashes were found, and a search takes about 40 ms.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AutoShape 3"/>
          <p:cNvSpPr/>
          <p:nvPr/>
        </p:nvSpPr>
        <p:spPr>
          <a:xfrm>
            <a:off x="246240" y="8519040"/>
            <a:ext cx="7086600" cy="12717000"/>
          </a:xfrm>
          <a:custGeom>
            <a:avLst/>
            <a:gdLst>
              <a:gd name="textAreaLeft" fmla="*/ 172800 w 7086600"/>
              <a:gd name="textAreaRight" fmla="*/ 6913800 w 7086600"/>
              <a:gd name="textAreaTop" fmla="*/ 172800 h 12396960"/>
              <a:gd name="textAreaBottom" fmla="*/ 12224160 h 12396960"/>
            </a:gdLst>
            <a:ahLst/>
            <a:rect l="textAreaLeft" t="textAreaTop" r="textAreaRight" b="textAreaBottom"/>
            <a:pathLst>
              <a:path w="21600" h="37785">
                <a:moveTo>
                  <a:pt x="1800" y="0"/>
                </a:moveTo>
                <a:arcTo wR="1800" hR="1800" stAng="16200000" swAng="-5400000"/>
                <a:lnTo>
                  <a:pt x="0" y="35985"/>
                </a:lnTo>
                <a:arcTo wR="1800" hR="1800" stAng="10800000" swAng="-5400000"/>
                <a:lnTo>
                  <a:pt x="19800" y="37785"/>
                </a:lnTo>
                <a:arcTo wR="1800" hR="1800" stAng="5400000" swAng="-5400000"/>
                <a:lnTo>
                  <a:pt x="21600" y="1800"/>
                </a:lnTo>
                <a:arcTo wR="1800" hR="1800" stAng="0" swAng="-5400000"/>
                <a:close/>
              </a:path>
            </a:pathLst>
          </a:custGeom>
          <a:solidFill>
            <a:srgbClr val="fdeada"/>
          </a:solidFill>
          <a:ln cap="sq" w="9360">
            <a:solidFill>
              <a:srgbClr val="7d60a0"/>
            </a:solidFill>
            <a:miter/>
          </a:ln>
          <a:effectLst>
            <a:outerShdw dist="20160" dir="5400000" blurRad="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10520" rIns="110520" tIns="55440" bIns="55440" anchor="t">
            <a:noAutofit/>
          </a:bodyPr>
          <a:p>
            <a:pPr algn="ctr">
              <a:lnSpc>
                <a:spcPct val="150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1" lang="en-US" sz="20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Introduction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The department publishes its class timetable as a 10-page PDF: grids per division with stacked lab batches (A1-A4), teacher codes and page-wise legends. Everyone reads it by hand many times a day, and clashes are noticed only when they happen.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50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1" lang="en-US" sz="20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Objective(s)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• Read the real timetable automatically; flag every uncertain value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• Role-based views for Student, Professor, HOD, Principal, Admin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• Answer plain-English questions safely; detect clashes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• One app for Android, iPhone and laptop; free online demo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50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1" lang="en-US" sz="20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Problem Definition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Turn a human-formatted timetable (merged and stacked cells, missing a.m./p.m., legends, scans) into verified data, and give each user correct, role-scoped answers without guessing and without exposing personal data.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50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1" lang="en-US" sz="20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Contribution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• Timetable-aware parser (backtracking time-row resolver, lab groups, legends)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• Clash detector: 542 raw overlaps → 2 genuine clashes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• Question engine without generated SQL: 30 intents → 22 safe templates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50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1" lang="en-US" sz="20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Design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React Native app → stateless FastAPI server → PostgreSQL, plus a background extraction worker.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AutoShape 4"/>
          <p:cNvSpPr/>
          <p:nvPr/>
        </p:nvSpPr>
        <p:spPr>
          <a:xfrm>
            <a:off x="7589880" y="4495680"/>
            <a:ext cx="7210440" cy="16740360"/>
          </a:xfrm>
          <a:custGeom>
            <a:avLst/>
            <a:gdLst>
              <a:gd name="textAreaLeft" fmla="*/ 170280 w 7210440"/>
              <a:gd name="textAreaRight" fmla="*/ 7040160 w 7210440"/>
              <a:gd name="textAreaTop" fmla="*/ 170280 h 16740360"/>
              <a:gd name="textAreaBottom" fmla="*/ 16570080 h 16740360"/>
            </a:gdLst>
            <a:ahLst/>
            <a:rect l="textAreaLeft" t="textAreaTop" r="textAreaRight" b="textAreaBottom"/>
            <a:pathLst>
              <a:path w="21600" h="50147">
                <a:moveTo>
                  <a:pt x="1742" y="0"/>
                </a:moveTo>
                <a:arcTo wR="1742" hR="1742" stAng="16200000" swAng="-5400000"/>
                <a:lnTo>
                  <a:pt x="0" y="48405"/>
                </a:lnTo>
                <a:arcTo wR="1742" hR="1742" stAng="10800000" swAng="-5400000"/>
                <a:lnTo>
                  <a:pt x="19858" y="50147"/>
                </a:lnTo>
                <a:arcTo wR="1742" hR="1742" stAng="5400000" swAng="-5400000"/>
                <a:lnTo>
                  <a:pt x="21600" y="1742"/>
                </a:lnTo>
                <a:arcTo wR="1742" hR="1742" stAng="0" swAng="-5400000"/>
                <a:close/>
              </a:path>
            </a:pathLst>
          </a:custGeom>
          <a:solidFill>
            <a:srgbClr val="fdeada"/>
          </a:solidFill>
          <a:ln cap="sq" w="9360">
            <a:solidFill>
              <a:srgbClr val="7d60a0"/>
            </a:solidFill>
            <a:miter/>
          </a:ln>
          <a:effectLst>
            <a:outerShdw dist="20160" dir="5400000" blurRad="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10520" rIns="110520" tIns="55440" bIns="55440" anchor="t">
            <a:noAutofit/>
          </a:bodyPr>
          <a:p>
            <a:pPr algn="ctr">
              <a:lnSpc>
                <a:spcPct val="150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1" lang="en-US" sz="20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Methodology/Algorithms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1. Upload: text with coordinates (PyMuPDF), or OCR (Tesseract) for scans and photos.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2. Time rows resolved by constrained backtracking; only a unique valid reading is accepted.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3. Cells split into lab groups, legend codes expanded; every class gets a status.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4. Clashes: group by teacher/room/batch, sort, sweep; overlap if s1 &lt; e2 and s2 &lt; e1.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5. Question → 1 of 30 intents → clarify if ambiguous → 1 of 22 safe queries.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50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1" lang="en-US" sz="20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Results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• Real PDF: 453 classes, 452 verified (99.8%); the remaining one has no time printed in the PDF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• Exactly 2 genuine clashes reported (a teacher on Friday, room 603-2 on Tuesday)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• Search 37-47 ms (median); 0 wrong answers with 32 concurrent users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• 10-page PDF extracted in 1.65 s; 159 + 18 automated tests and end-to-end tests pass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50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1" lang="en-US" sz="20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Conclusion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Dynamic Timetable turns the published PDF into a trustworthy, searchable app for every role. Showing uncertainty instead of guessing kept every automatic answer correct, and the clash report found real errors in the official timetable.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50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1" lang="en-US" sz="20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References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[1] R. Zanibbi et al., “A survey of table recognition,” IJDAR, 2004.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[2] R. Smith, “An overview of the Tesseract OCR engine,” ICDAR, 2007.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d0d0d"/>
                </a:solidFill>
                <a:latin typeface="Bookman Old Style"/>
                <a:ea typeface="Times New Roman"/>
              </a:rPr>
              <a:t>[3] I. Androutsopoulos et al., “Natural language interfaces to databases,” Nat. Lang. Eng., 1995.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AutoShape 5"/>
          <p:cNvSpPr/>
          <p:nvPr/>
        </p:nvSpPr>
        <p:spPr>
          <a:xfrm>
            <a:off x="2305080" y="179280"/>
            <a:ext cx="12573000" cy="144792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 cap="sq" w="25560">
            <a:solidFill>
              <a:srgbClr val="5c477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0520" rIns="110520" tIns="55440" bIns="55440" anchor="t">
            <a:normAutofit/>
          </a:bodyPr>
          <a:p>
            <a:pPr algn="ctr">
              <a:lnSpc>
                <a:spcPct val="12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  <a:tab algn="l" pos="11231640"/>
                <a:tab algn="l" pos="11680920"/>
                <a:tab algn="l" pos="12130200"/>
              </a:tabLst>
            </a:pPr>
            <a:r>
              <a:rPr b="1" lang="en-US" sz="3200" spc="-1" strike="noStrike">
                <a:solidFill>
                  <a:srgbClr val="0070c0"/>
                </a:solidFill>
                <a:latin typeface="Bookman Old Style"/>
                <a:ea typeface="Times New Roman"/>
              </a:rPr>
              <a:t>Sardar Patel Institute of Technology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  <a:tab algn="l" pos="11231640"/>
                <a:tab algn="l" pos="11680920"/>
                <a:tab algn="l" pos="12130200"/>
              </a:tabLst>
            </a:pPr>
            <a:r>
              <a:rPr b="1" lang="en-US" sz="2400" spc="-1" strike="noStrike">
                <a:solidFill>
                  <a:srgbClr val="7030a0"/>
                </a:solidFill>
                <a:latin typeface="Bookman Old Style"/>
                <a:ea typeface="Times New Roman"/>
              </a:rPr>
              <a:t>Department of Computer Engineering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  <a:tab algn="l" pos="11231640"/>
                <a:tab algn="l" pos="11680920"/>
                <a:tab algn="l" pos="12130200"/>
              </a:tabLst>
            </a:pPr>
            <a:r>
              <a:rPr b="1" lang="en-US" sz="2400" spc="-1" strike="noStrike">
                <a:solidFill>
                  <a:srgbClr val="7030a0"/>
                </a:solidFill>
                <a:latin typeface="Bookman Old Style"/>
                <a:ea typeface="Times New Roman"/>
              </a:rPr>
              <a:t>Academic Year 2026-27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Picture 6" descr=""/>
          <p:cNvPicPr/>
          <p:nvPr/>
        </p:nvPicPr>
        <p:blipFill>
          <a:blip r:embed="rId1"/>
          <a:stretch/>
        </p:blipFill>
        <p:spPr>
          <a:xfrm>
            <a:off x="324000" y="103320"/>
            <a:ext cx="1600200" cy="1522440"/>
          </a:xfrm>
          <a:prstGeom prst="rect">
            <a:avLst/>
          </a:prstGeom>
          <a:ln w="0">
            <a:noFill/>
          </a:ln>
        </p:spPr>
      </p:pic>
      <p:pic>
        <p:nvPicPr>
          <p:cNvPr id="15" name="Picture 14" descr="pi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8430768"/>
            <a:ext cx="6126480" cy="2594125"/>
          </a:xfrm>
          <a:prstGeom prst="rect">
            <a:avLst/>
          </a:prstGeom>
        </p:spPr>
      </p:pic>
      <p:pic>
        <p:nvPicPr>
          <p:cNvPr id="16" name="Picture 15" descr="scree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14100048"/>
            <a:ext cx="5148072" cy="2741503"/>
          </a:xfrm>
          <a:prstGeom prst="rect">
            <a:avLst/>
          </a:prstGeom>
        </p:spPr>
      </p:pic>
      <p:pic>
        <p:nvPicPr>
          <p:cNvPr id="17" name="Picture 16" descr="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18589752"/>
            <a:ext cx="4572000" cy="2550059"/>
          </a:xfrm>
          <a:prstGeom prst="rect">
            <a:avLst/>
          </a:prstGeom>
        </p:spPr>
      </p:pic>
      <p:pic>
        <p:nvPicPr>
          <p:cNvPr id="18" name="Picture 17" descr="qr-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568" y="19110960"/>
            <a:ext cx="1325880" cy="1325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40680" y="20574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latin typeface="Bookman Old Style"/>
              </a:rPr>
              <a:t>Scan: source code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Admin</dc:creator>
  <dc:description/>
  <cp:keywords/>
  <dc:language>en-US</dc:language>
  <cp:lastModifiedBy>sunil Ghane</cp:lastModifiedBy>
  <dcterms:modified xsi:type="dcterms:W3CDTF">2026-04-30T06:42:06Z</dcterms:modified>
  <cp:revision>115</cp:revision>
  <dc:subject/>
  <dc:title>Slide 1</dc:title>
</cp:coreProperties>
</file>